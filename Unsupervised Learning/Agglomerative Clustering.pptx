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3AC-4BD5-467D-A097-2A7B9F140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2FCB5B-43CD-4A2A-B640-E9FBF62C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0B5FB-6FCA-41D2-97BC-4156636F0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CF54E-EA10-431E-9154-0CF008B5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209C3-C9F4-4B60-B6DD-77C81D49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71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29B3-7322-41C3-BCF1-147EA954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B2B2-7EB6-4976-B112-3F12DE672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E3C3C-FB25-4D2A-BADD-7BB4C5064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AE595-A051-46DF-BC3F-033BEE99E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534BA-B611-4502-B963-ABA9E835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86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50B6-EE1C-487F-9511-1A6C4EFF5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96F76-A2A4-4C11-B743-90A84CE26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D7643-BC1F-42BE-94D8-0D830FB78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72F3B-AC82-4F82-A240-2DAF4828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9A9C4-1D8E-4418-A822-617CE6F1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375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C9C8-8A6B-4790-9155-0F1490E08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B32B5-1887-4E99-8F37-6DB772F34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C6959-0C1C-44DE-BCCE-1A3572073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1F153-95A7-45F8-AD5C-D4E9DE37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5EFA3-3045-4C23-9A00-DA219F6EC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FB104-0DB6-40C2-8467-DF881CB0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05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2B8A0-A068-4421-BAFE-063283A43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DD5A7-75BD-45C0-A124-9DCD3F2B6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BA4D8-AC19-456B-AF07-498C57306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05E31C-7985-4E2F-B765-56B33D9C9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5F100B-71E2-454F-AA56-936742652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1F7FD0-EFF9-43A3-9FC3-6448D7FF6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871AD3-088D-4637-888C-7B3FED2B9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2705A-0F78-4CC9-B064-DD5CF764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86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A8F6-C798-4EE8-8332-529A4F277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4D273-1C9F-4A0A-A442-5A2C9E32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0C9E3-FEE8-4A0B-92ED-BFA0594BE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A6E19-0601-438E-B0C0-C5BBBB2E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807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4EA76-2958-4A1D-9A3F-1A5185D2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5AEE8-D703-4FCD-85AC-B16E60CA0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494AB-815A-4202-BE30-BB4AEF74D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205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4C2ED-C776-4F30-8B55-134AA08A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D010C-150F-43CC-9B28-F960DFEFD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7A625-2A31-4230-8776-0E80CE107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261A6-FF04-49D8-9E68-8533AE779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AEBBE-D1AB-406E-BEB2-A780EC548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01F68-F5AB-45BB-9A0D-F148E6FF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340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CAC9E-F967-451E-9BBA-C2E017B42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E93E9D-EEE5-457D-BF95-3D2107E70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7FB1B-8177-4C3F-8876-B7D7003ED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765F4-5EDD-4B72-B4B1-28F989FED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7CC38-0952-417F-AF4C-9D1EC66A8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65525-3FF0-41EC-9ACC-F119A0A8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731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DAE6-8986-4B88-BD40-94340A1F9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5629D-ECFC-42B1-AF19-CA8D85A36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2E78B-A47D-4C1E-999C-CFCFA5E3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3368A-308E-4DB5-9F83-AF8286D6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D4A09-F8E5-48E8-9945-681B5819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082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F97A7-951E-4809-94B8-9D58A2765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773BB-58C2-48E4-809B-F39C291C8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F4C04-29F0-40D1-B3A3-C705EE13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00CEB-E80A-49A0-AE06-84D0CAE4A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0D5C8-9277-4C23-AF95-47845027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49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D4CB7-6444-4D96-B550-40C5D8A51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7B483-0976-4C96-9920-458256661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28706-2B03-4E9B-A482-603105B74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E1455-98EA-4DDD-B3CD-D8A6D3143F1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860A7-440B-4FB0-8D47-4A691A0A4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3E834-184B-4667-953E-A7A1EE703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908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76C34-6966-46BB-9F7F-9736E3ABF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2369"/>
            <a:ext cx="9144000" cy="678302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B8555-AFB0-4211-BB74-2B39C9569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50497"/>
            <a:ext cx="9144000" cy="4628271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agglomerative clustering:</a:t>
            </a:r>
          </a:p>
          <a:p>
            <a:pPr algn="l"/>
            <a:r>
              <a:rPr lang="en-US" sz="1900" dirty="0"/>
              <a:t>To group similar data points into clusters based on their proximity, Agglomerative Clustering is used which is a type of hierarchical clustering. It follows a bottom-up approach, where each data point starts as its own cluster and gradually merges with others based on similarity.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Analogy:</a:t>
            </a:r>
            <a:br>
              <a:rPr lang="en-US" dirty="0"/>
            </a:br>
            <a:r>
              <a:rPr lang="en-US" dirty="0"/>
              <a:t>     </a:t>
            </a:r>
            <a:r>
              <a:rPr lang="en-US" sz="1800" dirty="0">
                <a:effectLst/>
              </a:rPr>
              <a:t>Think of </a:t>
            </a:r>
            <a:r>
              <a:rPr lang="en-US" sz="1800" b="1" dirty="0">
                <a:effectLst/>
              </a:rPr>
              <a:t>family trees</a:t>
            </a:r>
            <a:r>
              <a:rPr lang="en-US" sz="1800" dirty="0">
                <a:effectLst/>
              </a:rPr>
              <a:t>:</a:t>
            </a: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At the bottom, each person is separate.</a:t>
            </a: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Then siblings are grouped, then cousins, then whole families.</a:t>
            </a: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Eventually, everyone merges into one big tree. Agglomerative clustering works the same way — starting with each data point as its own cluster and merging them upward.</a:t>
            </a:r>
            <a:endParaRPr lang="en-US" sz="1800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4979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0F88C-C721-45CB-B323-F8F220742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422"/>
            <a:ext cx="10515600" cy="58815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When to Use</a:t>
            </a:r>
          </a:p>
          <a:p>
            <a:pPr>
              <a:lnSpc>
                <a:spcPct val="100000"/>
              </a:lnSpc>
            </a:pPr>
            <a:r>
              <a:rPr lang="en-US" sz="1900" dirty="0"/>
              <a:t>When you want to see hierarchical relationships.</a:t>
            </a:r>
          </a:p>
          <a:p>
            <a:pPr>
              <a:lnSpc>
                <a:spcPct val="100000"/>
              </a:lnSpc>
            </a:pPr>
            <a:r>
              <a:rPr lang="en-US" sz="1900" dirty="0"/>
              <a:t>When the number of clusters is not known in advance.</a:t>
            </a:r>
          </a:p>
          <a:p>
            <a:pPr>
              <a:lnSpc>
                <a:spcPct val="100000"/>
              </a:lnSpc>
            </a:pPr>
            <a:r>
              <a:rPr lang="en-US" sz="1900" dirty="0"/>
              <a:t>When interpretability (via dendrograms) is important.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Step‑by‑Step Process</a:t>
            </a:r>
          </a:p>
          <a:p>
            <a:pPr>
              <a:lnSpc>
                <a:spcPct val="100000"/>
              </a:lnSpc>
            </a:pPr>
            <a:r>
              <a:rPr lang="en-US" sz="1900" dirty="0"/>
              <a:t>Start: each data point is its own cluster.</a:t>
            </a:r>
          </a:p>
          <a:p>
            <a:pPr>
              <a:lnSpc>
                <a:spcPct val="100000"/>
              </a:lnSpc>
            </a:pPr>
            <a:r>
              <a:rPr lang="en-US" sz="1900" dirty="0"/>
              <a:t>Find closest pair of clusters (based on chosen linkage).</a:t>
            </a:r>
          </a:p>
          <a:p>
            <a:pPr>
              <a:lnSpc>
                <a:spcPct val="100000"/>
              </a:lnSpc>
            </a:pPr>
            <a:r>
              <a:rPr lang="en-US" sz="1900" dirty="0"/>
              <a:t>Merge them into a new cluster.</a:t>
            </a:r>
          </a:p>
          <a:p>
            <a:pPr>
              <a:lnSpc>
                <a:spcPct val="100000"/>
              </a:lnSpc>
            </a:pPr>
            <a:r>
              <a:rPr lang="en-US" sz="1900" dirty="0"/>
              <a:t>Repeat until all points are merged into one cluster.</a:t>
            </a:r>
          </a:p>
          <a:p>
            <a:pPr>
              <a:lnSpc>
                <a:spcPct val="100000"/>
              </a:lnSpc>
            </a:pPr>
            <a:r>
              <a:rPr lang="en-US" sz="1900" dirty="0"/>
              <a:t>Cut the dendrogram at a chosen level to decide the final number of clusters.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2581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54544-87B0-4349-9D0A-9F9624912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15"/>
            <a:ext cx="10515600" cy="59659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Dendrogram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6DF26E-CCEC-4C54-9BED-1DED5AD6B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572" y="861654"/>
            <a:ext cx="9716856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15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52EA5-D66F-4C92-B45A-A6B0771C1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306314"/>
            <a:ext cx="10515600" cy="4351338"/>
          </a:xfrm>
        </p:spPr>
        <p:txBody>
          <a:bodyPr/>
          <a:lstStyle/>
          <a:p>
            <a:r>
              <a:rPr lang="en-US" b="1" dirty="0"/>
              <a:t>Why It’s Used in Agglomerative Clustering</a:t>
            </a:r>
          </a:p>
          <a:p>
            <a:r>
              <a:rPr lang="en-US" sz="1800" dirty="0">
                <a:effectLst/>
              </a:rPr>
              <a:t>Agglomerative clustering is </a:t>
            </a:r>
            <a:r>
              <a:rPr lang="en-US" sz="1800" b="1" dirty="0">
                <a:effectLst/>
              </a:rPr>
              <a:t>hierarchical</a:t>
            </a:r>
            <a:r>
              <a:rPr lang="en-US" sz="1800" dirty="0">
                <a:effectLst/>
              </a:rPr>
              <a:t>: it starts with each point as its own cluster and merges them step by step.</a:t>
            </a:r>
            <a:endParaRPr lang="en-US" sz="1800" dirty="0"/>
          </a:p>
          <a:p>
            <a:r>
              <a:rPr lang="en-US" sz="1800" dirty="0">
                <a:effectLst/>
              </a:rPr>
              <a:t>The </a:t>
            </a:r>
            <a:r>
              <a:rPr lang="en-US" sz="1800" b="1" dirty="0">
                <a:effectLst/>
              </a:rPr>
              <a:t>dendrogram</a:t>
            </a:r>
            <a:r>
              <a:rPr lang="en-US" sz="1800" dirty="0">
                <a:effectLst/>
              </a:rPr>
              <a:t> is the visualization of this process.</a:t>
            </a:r>
            <a:endParaRPr lang="en-US" sz="1800" dirty="0"/>
          </a:p>
          <a:p>
            <a:r>
              <a:rPr lang="en-US" sz="1800" dirty="0">
                <a:effectLst/>
              </a:rPr>
              <a:t>You use it to decide the </a:t>
            </a:r>
            <a:r>
              <a:rPr lang="en-US" sz="1800" b="1" dirty="0">
                <a:effectLst/>
              </a:rPr>
              <a:t>optimal number of clusters</a:t>
            </a:r>
            <a:r>
              <a:rPr lang="en-US" sz="1800" dirty="0">
                <a:effectLst/>
              </a:rPr>
              <a:t>:</a:t>
            </a:r>
            <a:endParaRPr lang="en-US" sz="1800" dirty="0"/>
          </a:p>
          <a:p>
            <a:pPr lvl="1"/>
            <a:r>
              <a:rPr lang="en-US" sz="1800" dirty="0">
                <a:effectLst/>
              </a:rPr>
              <a:t>Look for the largest vertical gap (biggest jump in distance).</a:t>
            </a:r>
            <a:endParaRPr lang="en-US" sz="1800" dirty="0"/>
          </a:p>
          <a:p>
            <a:pPr lvl="1"/>
            <a:r>
              <a:rPr lang="en-US" sz="1800" dirty="0">
                <a:effectLst/>
              </a:rPr>
              <a:t>Cut the dendrogram at that level → that gives you the cluster count.</a:t>
            </a:r>
            <a:endParaRPr lang="en-US" sz="1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139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404424-EDC8-4775-B9BB-C298060DE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4712" y="845344"/>
            <a:ext cx="5362575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406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221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Agglomerative Clustering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Agglomerative Clustering</dc:title>
  <dc:creator> </dc:creator>
  <cp:lastModifiedBy> </cp:lastModifiedBy>
  <cp:revision>7</cp:revision>
  <dcterms:created xsi:type="dcterms:W3CDTF">2026-05-15T01:30:23Z</dcterms:created>
  <dcterms:modified xsi:type="dcterms:W3CDTF">2026-05-15T02:16:40Z</dcterms:modified>
</cp:coreProperties>
</file>