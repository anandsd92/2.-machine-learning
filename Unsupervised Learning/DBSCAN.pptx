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A3AC-4BD5-467D-A097-2A7B9F140A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12FCB5B-43CD-4A2A-B640-E9FBF62C11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20B5FB-6FCA-41D2-97BC-4156636F0096}"/>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5" name="Footer Placeholder 4">
            <a:extLst>
              <a:ext uri="{FF2B5EF4-FFF2-40B4-BE49-F238E27FC236}">
                <a16:creationId xmlns:a16="http://schemas.microsoft.com/office/drawing/2014/main" id="{9D7CF54E-EA10-431E-9154-0CF008B5E4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D209C3-C9F4-4B60-B6DD-77C81D49EB31}"/>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17047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F29B3-7322-41C3-BCF1-147EA95495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20B2B2-7EB6-4976-B112-3F12DE67259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BE3C3C-FB25-4D2A-BADD-7BB4C50643D3}"/>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5" name="Footer Placeholder 4">
            <a:extLst>
              <a:ext uri="{FF2B5EF4-FFF2-40B4-BE49-F238E27FC236}">
                <a16:creationId xmlns:a16="http://schemas.microsoft.com/office/drawing/2014/main" id="{C1EAE595-A051-46DF-BC3F-033BEE99E2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5534BA-B611-4502-B963-ABA9E8354498}"/>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2458867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450B6-EE1C-487F-9511-1A6C4EFF52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B996F76-A2A4-4C11-B743-90A84CE263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DFD7643-BC1F-42BE-94D8-0D830FB78CC1}"/>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5" name="Footer Placeholder 4">
            <a:extLst>
              <a:ext uri="{FF2B5EF4-FFF2-40B4-BE49-F238E27FC236}">
                <a16:creationId xmlns:a16="http://schemas.microsoft.com/office/drawing/2014/main" id="{97272F3B-AC82-4F82-A240-2DAF4828BB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29A9C4-1D8E-4418-A822-617CE6F1A177}"/>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723375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1C9C8-8A6B-4790-9155-0F1490E087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6B32B5-1887-4E99-8F37-6DB772F3488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DAC6959-0C1C-44DE-BCCE-1A3572073CC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741F153-95A7-45F8-AD5C-D4E9DE378BB2}"/>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6" name="Footer Placeholder 5">
            <a:extLst>
              <a:ext uri="{FF2B5EF4-FFF2-40B4-BE49-F238E27FC236}">
                <a16:creationId xmlns:a16="http://schemas.microsoft.com/office/drawing/2014/main" id="{D625EFA3-3045-4C23-9A00-DA219F6EC7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4FB104-0DB6-40C2-8467-DF881CB0FDEA}"/>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381105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2B8A0-A068-4421-BAFE-063283A431E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0DD5A7-75BD-45C0-A124-9DCD3F2B66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26BA4D8-AC19-456B-AF07-498C57306E7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05E31C-7985-4E2F-B765-56B33D9C9A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C5F100B-71E2-454F-AA56-936742652A5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31F7FD0-EFF9-43A3-9FC3-6448D7FF6490}"/>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8" name="Footer Placeholder 7">
            <a:extLst>
              <a:ext uri="{FF2B5EF4-FFF2-40B4-BE49-F238E27FC236}">
                <a16:creationId xmlns:a16="http://schemas.microsoft.com/office/drawing/2014/main" id="{1C871AD3-088D-4637-888C-7B3FED2B91E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C62705A-0F78-4CC9-B064-DD5CF7642617}"/>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1992862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6A8F6-C798-4EE8-8332-529A4F277D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0B4D273-1C9F-4A0A-A442-5A2C9E32B7DD}"/>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4" name="Footer Placeholder 3">
            <a:extLst>
              <a:ext uri="{FF2B5EF4-FFF2-40B4-BE49-F238E27FC236}">
                <a16:creationId xmlns:a16="http://schemas.microsoft.com/office/drawing/2014/main" id="{63D0C9E3-FEE8-4A0B-92ED-BFA0594BE3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8FA6E19-0601-438E-B0C0-C5BBBB2E12CD}"/>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3111807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F4EA76-2958-4A1D-9A3F-1A5185D2730B}"/>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3" name="Footer Placeholder 2">
            <a:extLst>
              <a:ext uri="{FF2B5EF4-FFF2-40B4-BE49-F238E27FC236}">
                <a16:creationId xmlns:a16="http://schemas.microsoft.com/office/drawing/2014/main" id="{4665AEE8-D703-4FCD-85AC-B16E60CA092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7E494AB-815A-4202-BE30-BB4AEF74DE99}"/>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2522205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4C2ED-C776-4F30-8B55-134AA08A05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B6D010C-150F-43CC-9B28-F960DFEFDB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47A625-2A31-4230-8776-0E80CE1077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FE261A6-FF04-49D8-9E68-8533AE7797E4}"/>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6" name="Footer Placeholder 5">
            <a:extLst>
              <a:ext uri="{FF2B5EF4-FFF2-40B4-BE49-F238E27FC236}">
                <a16:creationId xmlns:a16="http://schemas.microsoft.com/office/drawing/2014/main" id="{BD3AEBBE-D1AB-406E-BEB2-A780EC548B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101F68-F5AB-45BB-9A0D-F148E6FFBBA9}"/>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3918340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CAC9E-F967-451E-9BBA-C2E017B42A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3E93E9D-EEE5-457D-BF95-3D2107E707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CA7FB1B-8177-4C3F-8876-B7D7003ED1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61765F4-5EDD-4B72-B4B1-28F989FEDF60}"/>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6" name="Footer Placeholder 5">
            <a:extLst>
              <a:ext uri="{FF2B5EF4-FFF2-40B4-BE49-F238E27FC236}">
                <a16:creationId xmlns:a16="http://schemas.microsoft.com/office/drawing/2014/main" id="{5E87CC38-0952-417F-AF4C-9D1EC66A82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365525-3FF0-41EC-9ACC-F119A0A81B33}"/>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1218731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0DAE6-8986-4B88-BD40-94340A1F9E8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FA5629D-ECFC-42B1-AF19-CA8D85A36F4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12E78B-A47D-4C1E-999C-CFCFA5E3D342}"/>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5" name="Footer Placeholder 4">
            <a:extLst>
              <a:ext uri="{FF2B5EF4-FFF2-40B4-BE49-F238E27FC236}">
                <a16:creationId xmlns:a16="http://schemas.microsoft.com/office/drawing/2014/main" id="{FF03368A-308E-4DB5-9F83-AF8286D6E3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ED4A09-F8E5-48E8-9945-681B58197E76}"/>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8640823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4F97A7-951E-4809-94B8-9D58A27652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4773BB-58C2-48E4-809B-F39C291C8AA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2F4C04-29F0-40D1-B3A3-C705EE137737}"/>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5" name="Footer Placeholder 4">
            <a:extLst>
              <a:ext uri="{FF2B5EF4-FFF2-40B4-BE49-F238E27FC236}">
                <a16:creationId xmlns:a16="http://schemas.microsoft.com/office/drawing/2014/main" id="{17800CEB-E80A-49A0-AE06-84D0CAE4A2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C0D5C8-9277-4C23-AF95-4784502789BF}"/>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1230491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0D4CB7-6444-4D96-B550-40C5D8A51D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C7B483-0976-4C96-9920-4582566616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428706-2B03-4E9B-A482-603105B746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4E1455-98EA-4DDD-B3CD-D8A6D3143F18}" type="datetimeFigureOut">
              <a:rPr lang="en-IN" smtClean="0"/>
              <a:t>17-05-2026</a:t>
            </a:fld>
            <a:endParaRPr lang="en-IN"/>
          </a:p>
        </p:txBody>
      </p:sp>
      <p:sp>
        <p:nvSpPr>
          <p:cNvPr id="5" name="Footer Placeholder 4">
            <a:extLst>
              <a:ext uri="{FF2B5EF4-FFF2-40B4-BE49-F238E27FC236}">
                <a16:creationId xmlns:a16="http://schemas.microsoft.com/office/drawing/2014/main" id="{A10860A7-440B-4FB0-8D47-4A691A0A47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553E834-184B-4667-953E-A7A1EE7035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E5A571-A750-412D-AF75-50C45FB68388}" type="slidenum">
              <a:rPr lang="en-IN" smtClean="0"/>
              <a:t>‹#›</a:t>
            </a:fld>
            <a:endParaRPr lang="en-IN"/>
          </a:p>
        </p:txBody>
      </p:sp>
    </p:spTree>
    <p:extLst>
      <p:ext uri="{BB962C8B-B14F-4D97-AF65-F5344CB8AC3E}">
        <p14:creationId xmlns:p14="http://schemas.microsoft.com/office/powerpoint/2010/main" val="2487908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76C34-6966-46BB-9F7F-9736E3ABF166}"/>
              </a:ext>
            </a:extLst>
          </p:cNvPr>
          <p:cNvSpPr>
            <a:spLocks noGrp="1"/>
          </p:cNvSpPr>
          <p:nvPr>
            <p:ph type="ctrTitle"/>
          </p:nvPr>
        </p:nvSpPr>
        <p:spPr>
          <a:xfrm>
            <a:off x="1524000" y="292369"/>
            <a:ext cx="9144000" cy="678302"/>
          </a:xfrm>
        </p:spPr>
        <p:txBody>
          <a:bodyPr>
            <a:normAutofit fontScale="90000"/>
          </a:bodyPr>
          <a:lstStyle/>
          <a:p>
            <a:r>
              <a:rPr lang="en-US" dirty="0"/>
              <a:t>DBSCAN Clustering</a:t>
            </a:r>
            <a:endParaRPr lang="en-IN" dirty="0"/>
          </a:p>
        </p:txBody>
      </p:sp>
      <p:sp>
        <p:nvSpPr>
          <p:cNvPr id="3" name="Subtitle 2">
            <a:extLst>
              <a:ext uri="{FF2B5EF4-FFF2-40B4-BE49-F238E27FC236}">
                <a16:creationId xmlns:a16="http://schemas.microsoft.com/office/drawing/2014/main" id="{E80B8555-AFB0-4211-BB74-2B39C9569B61}"/>
              </a:ext>
            </a:extLst>
          </p:cNvPr>
          <p:cNvSpPr>
            <a:spLocks noGrp="1"/>
          </p:cNvSpPr>
          <p:nvPr>
            <p:ph type="subTitle" idx="1"/>
          </p:nvPr>
        </p:nvSpPr>
        <p:spPr>
          <a:xfrm>
            <a:off x="355107" y="1171853"/>
            <a:ext cx="11514338" cy="5393778"/>
          </a:xfrm>
        </p:spPr>
        <p:txBody>
          <a:bodyPr>
            <a:normAutofit/>
          </a:bodyPr>
          <a:lstStyle/>
          <a:p>
            <a:pPr algn="l"/>
            <a:r>
              <a:rPr lang="en-US" b="1" dirty="0"/>
              <a:t>What is DBSCAN clustering:</a:t>
            </a:r>
          </a:p>
          <a:p>
            <a:pPr algn="l"/>
            <a:r>
              <a:rPr lang="en-US" sz="1800" dirty="0"/>
              <a:t>DBSCAN is a density-based clustering algorithm that groups data points that are closely packed together and marks outliers as noise based on their density in the feature space. It identifies clusters as dense regions in the data space separated by areas of lower density. Unlike K-Means or hierarchical clustering which assumes clusters are compact and spherical, DBSCAN perform well in handling real-world data irregularities such as:</a:t>
            </a:r>
          </a:p>
          <a:p>
            <a:pPr algn="l"/>
            <a:r>
              <a:rPr lang="en-US" sz="1800" dirty="0"/>
              <a:t>Arbitrary-Shaped Clusters: Clusters can take any shape not just circular or convex.</a:t>
            </a:r>
          </a:p>
          <a:p>
            <a:pPr algn="l"/>
            <a:r>
              <a:rPr lang="en-US" sz="1800" dirty="0"/>
              <a:t>Noise and Outliers: It effectively identifies and handles noise points without assigning them to any cluster.</a:t>
            </a:r>
          </a:p>
          <a:p>
            <a:pPr algn="l"/>
            <a:r>
              <a:rPr lang="en-US" b="1" dirty="0"/>
              <a:t>Analogy:</a:t>
            </a:r>
            <a:br>
              <a:rPr lang="en-US" dirty="0"/>
            </a:br>
            <a:r>
              <a:rPr lang="en-US" sz="1800" dirty="0"/>
              <a:t>Imagine you’re at a </a:t>
            </a:r>
            <a:r>
              <a:rPr lang="en-US" sz="1800" b="1" dirty="0"/>
              <a:t>park</a:t>
            </a:r>
            <a:r>
              <a:rPr lang="en-US" sz="1800" dirty="0"/>
              <a:t>:</a:t>
            </a:r>
          </a:p>
          <a:p>
            <a:pPr algn="l"/>
            <a:r>
              <a:rPr lang="en-US" sz="1800" dirty="0"/>
              <a:t>Groups of friends are sitting close together on the grass.</a:t>
            </a:r>
          </a:p>
          <a:p>
            <a:pPr algn="l"/>
            <a:r>
              <a:rPr lang="en-US" sz="1800" dirty="0"/>
              <a:t>A few people are wandering alone far from others.</a:t>
            </a:r>
          </a:p>
          <a:p>
            <a:pPr algn="l"/>
            <a:r>
              <a:rPr lang="en-US" sz="1800" dirty="0"/>
              <a:t>DBSCAN says: “Clusters are groups with enough people sitting close together. Lone wanderers are </a:t>
            </a:r>
            <a:r>
              <a:rPr lang="en-US" sz="1800" b="1" dirty="0"/>
              <a:t>noise</a:t>
            </a:r>
            <a:r>
              <a:rPr lang="en-US" sz="1800" dirty="0"/>
              <a:t>.”</a:t>
            </a:r>
          </a:p>
        </p:txBody>
      </p:sp>
    </p:spTree>
    <p:extLst>
      <p:ext uri="{BB962C8B-B14F-4D97-AF65-F5344CB8AC3E}">
        <p14:creationId xmlns:p14="http://schemas.microsoft.com/office/powerpoint/2010/main" val="2504979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70F88C-C721-45CB-B323-F8F2207423F8}"/>
              </a:ext>
            </a:extLst>
          </p:cNvPr>
          <p:cNvSpPr>
            <a:spLocks noGrp="1"/>
          </p:cNvSpPr>
          <p:nvPr>
            <p:ph idx="1"/>
          </p:nvPr>
        </p:nvSpPr>
        <p:spPr>
          <a:xfrm>
            <a:off x="838199" y="295422"/>
            <a:ext cx="11120021" cy="5821293"/>
          </a:xfrm>
        </p:spPr>
        <p:txBody>
          <a:bodyPr>
            <a:normAutofit lnSpcReduction="10000"/>
          </a:bodyPr>
          <a:lstStyle/>
          <a:p>
            <a:pPr marL="0" indent="0">
              <a:buNone/>
            </a:pPr>
            <a:r>
              <a:rPr lang="en-US" b="1" dirty="0"/>
              <a:t>When to Use</a:t>
            </a:r>
          </a:p>
          <a:p>
            <a:pPr>
              <a:lnSpc>
                <a:spcPct val="100000"/>
              </a:lnSpc>
              <a:spcBef>
                <a:spcPts val="0"/>
              </a:spcBef>
            </a:pPr>
            <a:r>
              <a:rPr lang="en-US" sz="1900" dirty="0"/>
              <a:t>When clusters are irregularly shaped (not spherical).</a:t>
            </a:r>
          </a:p>
          <a:p>
            <a:pPr>
              <a:lnSpc>
                <a:spcPct val="100000"/>
              </a:lnSpc>
              <a:spcBef>
                <a:spcPts val="0"/>
              </a:spcBef>
            </a:pPr>
            <a:endParaRPr lang="en-US" sz="1900" dirty="0"/>
          </a:p>
          <a:p>
            <a:pPr>
              <a:lnSpc>
                <a:spcPct val="100000"/>
              </a:lnSpc>
              <a:spcBef>
                <a:spcPts val="0"/>
              </a:spcBef>
            </a:pPr>
            <a:r>
              <a:rPr lang="en-US" sz="1900" dirty="0"/>
              <a:t>When you want to detect outliers.</a:t>
            </a:r>
          </a:p>
          <a:p>
            <a:pPr>
              <a:lnSpc>
                <a:spcPct val="100000"/>
              </a:lnSpc>
              <a:spcBef>
                <a:spcPts val="0"/>
              </a:spcBef>
            </a:pPr>
            <a:endParaRPr lang="en-US" sz="1900" dirty="0"/>
          </a:p>
          <a:p>
            <a:pPr>
              <a:lnSpc>
                <a:spcPct val="100000"/>
              </a:lnSpc>
              <a:spcBef>
                <a:spcPts val="0"/>
              </a:spcBef>
            </a:pPr>
            <a:r>
              <a:rPr lang="en-US" sz="1900" dirty="0"/>
              <a:t>When the number of clusters is unknown.</a:t>
            </a:r>
          </a:p>
          <a:p>
            <a:pPr>
              <a:lnSpc>
                <a:spcPct val="100000"/>
              </a:lnSpc>
              <a:spcBef>
                <a:spcPts val="0"/>
              </a:spcBef>
            </a:pPr>
            <a:endParaRPr lang="en-US" sz="1900" dirty="0"/>
          </a:p>
          <a:p>
            <a:pPr>
              <a:lnSpc>
                <a:spcPct val="100000"/>
              </a:lnSpc>
              <a:spcBef>
                <a:spcPts val="0"/>
              </a:spcBef>
            </a:pPr>
            <a:r>
              <a:rPr lang="en-US" sz="1900" dirty="0"/>
              <a:t>Useful in geospatial data, anomaly detection, image analysis.</a:t>
            </a:r>
          </a:p>
          <a:p>
            <a:pPr>
              <a:lnSpc>
                <a:spcPct val="100000"/>
              </a:lnSpc>
              <a:spcBef>
                <a:spcPts val="0"/>
              </a:spcBef>
            </a:pPr>
            <a:endParaRPr lang="en-US" sz="1900" b="1" dirty="0"/>
          </a:p>
          <a:p>
            <a:pPr marL="0" indent="0">
              <a:lnSpc>
                <a:spcPct val="100000"/>
              </a:lnSpc>
              <a:spcBef>
                <a:spcPts val="0"/>
              </a:spcBef>
              <a:buNone/>
            </a:pPr>
            <a:r>
              <a:rPr lang="en-US" b="1" dirty="0"/>
              <a:t>Step‑by‑Step Process</a:t>
            </a:r>
          </a:p>
          <a:p>
            <a:pPr>
              <a:spcBef>
                <a:spcPts val="0"/>
              </a:spcBef>
            </a:pPr>
            <a:r>
              <a:rPr lang="en-US" sz="1900" dirty="0"/>
              <a:t>Pick a point not yet visited.</a:t>
            </a:r>
          </a:p>
          <a:p>
            <a:pPr>
              <a:spcBef>
                <a:spcPts val="0"/>
              </a:spcBef>
            </a:pPr>
            <a:endParaRPr lang="en-US" sz="1900" dirty="0"/>
          </a:p>
          <a:p>
            <a:pPr>
              <a:spcBef>
                <a:spcPts val="0"/>
              </a:spcBef>
            </a:pPr>
            <a:r>
              <a:rPr lang="en-US" sz="1900" dirty="0"/>
              <a:t>Check neighbors within eps.</a:t>
            </a:r>
          </a:p>
          <a:p>
            <a:pPr>
              <a:spcBef>
                <a:spcPts val="0"/>
              </a:spcBef>
            </a:pPr>
            <a:endParaRPr lang="en-US" sz="1900" dirty="0"/>
          </a:p>
          <a:p>
            <a:pPr>
              <a:spcBef>
                <a:spcPts val="0"/>
              </a:spcBef>
            </a:pPr>
            <a:r>
              <a:rPr lang="en-US" sz="1900" dirty="0"/>
              <a:t>If neighbors ≥ </a:t>
            </a:r>
            <a:r>
              <a:rPr lang="en-US" sz="1900" dirty="0" err="1"/>
              <a:t>min_samples</a:t>
            </a:r>
            <a:r>
              <a:rPr lang="en-US" sz="1900" dirty="0"/>
              <a:t> → form a cluster.</a:t>
            </a:r>
          </a:p>
          <a:p>
            <a:pPr>
              <a:spcBef>
                <a:spcPts val="0"/>
              </a:spcBef>
            </a:pPr>
            <a:endParaRPr lang="en-US" sz="1900" dirty="0"/>
          </a:p>
          <a:p>
            <a:pPr>
              <a:spcBef>
                <a:spcPts val="0"/>
              </a:spcBef>
            </a:pPr>
            <a:r>
              <a:rPr lang="en-US" sz="1900" dirty="0"/>
              <a:t>Expand cluster by checking neighbors of neighbors.</a:t>
            </a:r>
          </a:p>
          <a:p>
            <a:pPr>
              <a:spcBef>
                <a:spcPts val="0"/>
              </a:spcBef>
            </a:pPr>
            <a:endParaRPr lang="en-US" sz="1900" dirty="0"/>
          </a:p>
          <a:p>
            <a:pPr>
              <a:spcBef>
                <a:spcPts val="0"/>
              </a:spcBef>
            </a:pPr>
            <a:r>
              <a:rPr lang="en-US" sz="1900" dirty="0"/>
              <a:t>If neighbors &lt; </a:t>
            </a:r>
            <a:r>
              <a:rPr lang="en-US" sz="1900" dirty="0" err="1"/>
              <a:t>min_samples</a:t>
            </a:r>
            <a:r>
              <a:rPr lang="en-US" sz="1900" dirty="0"/>
              <a:t> → mark as noise.</a:t>
            </a:r>
          </a:p>
          <a:p>
            <a:pPr>
              <a:spcBef>
                <a:spcPts val="0"/>
              </a:spcBef>
            </a:pPr>
            <a:endParaRPr lang="en-US" sz="1900" dirty="0"/>
          </a:p>
          <a:p>
            <a:pPr>
              <a:spcBef>
                <a:spcPts val="0"/>
              </a:spcBef>
            </a:pPr>
            <a:r>
              <a:rPr lang="en-US" sz="1900" dirty="0"/>
              <a:t>Repeat until all points are visited.</a:t>
            </a:r>
            <a:endParaRPr lang="en-IN" dirty="0"/>
          </a:p>
        </p:txBody>
      </p:sp>
    </p:spTree>
    <p:extLst>
      <p:ext uri="{BB962C8B-B14F-4D97-AF65-F5344CB8AC3E}">
        <p14:creationId xmlns:p14="http://schemas.microsoft.com/office/powerpoint/2010/main" val="1442581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F54544-87B0-4349-9D0A-9F96249128D0}"/>
              </a:ext>
            </a:extLst>
          </p:cNvPr>
          <p:cNvSpPr>
            <a:spLocks noGrp="1"/>
          </p:cNvSpPr>
          <p:nvPr>
            <p:ph idx="1"/>
          </p:nvPr>
        </p:nvSpPr>
        <p:spPr>
          <a:xfrm>
            <a:off x="838200" y="211015"/>
            <a:ext cx="10515600" cy="5965948"/>
          </a:xfrm>
        </p:spPr>
        <p:txBody>
          <a:bodyPr/>
          <a:lstStyle/>
          <a:p>
            <a:pPr marL="0" indent="0">
              <a:buNone/>
            </a:pPr>
            <a:r>
              <a:rPr lang="en-US" dirty="0"/>
              <a:t>K-Distance to decide EPS Score</a:t>
            </a:r>
          </a:p>
          <a:p>
            <a:pPr marL="0" indent="0">
              <a:buNone/>
            </a:pPr>
            <a:endParaRPr lang="en-IN" dirty="0"/>
          </a:p>
        </p:txBody>
      </p:sp>
      <p:pic>
        <p:nvPicPr>
          <p:cNvPr id="6" name="Picture 5">
            <a:extLst>
              <a:ext uri="{FF2B5EF4-FFF2-40B4-BE49-F238E27FC236}">
                <a16:creationId xmlns:a16="http://schemas.microsoft.com/office/drawing/2014/main" id="{64246D24-1BFC-4E0D-A93D-40E7BB1E8F84}"/>
              </a:ext>
            </a:extLst>
          </p:cNvPr>
          <p:cNvPicPr>
            <a:picLocks noChangeAspect="1"/>
          </p:cNvPicPr>
          <p:nvPr/>
        </p:nvPicPr>
        <p:blipFill>
          <a:blip r:embed="rId2"/>
          <a:stretch>
            <a:fillRect/>
          </a:stretch>
        </p:blipFill>
        <p:spPr>
          <a:xfrm>
            <a:off x="2038350" y="809625"/>
            <a:ext cx="8115300" cy="5238750"/>
          </a:xfrm>
          <a:prstGeom prst="rect">
            <a:avLst/>
          </a:prstGeom>
        </p:spPr>
      </p:pic>
    </p:spTree>
    <p:extLst>
      <p:ext uri="{BB962C8B-B14F-4D97-AF65-F5344CB8AC3E}">
        <p14:creationId xmlns:p14="http://schemas.microsoft.com/office/powerpoint/2010/main" val="786915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3867B2-7A22-4992-9A29-1B68A480CF3D}"/>
              </a:ext>
            </a:extLst>
          </p:cNvPr>
          <p:cNvPicPr>
            <a:picLocks noChangeAspect="1"/>
          </p:cNvPicPr>
          <p:nvPr/>
        </p:nvPicPr>
        <p:blipFill>
          <a:blip r:embed="rId2"/>
          <a:stretch>
            <a:fillRect/>
          </a:stretch>
        </p:blipFill>
        <p:spPr>
          <a:xfrm>
            <a:off x="1885950" y="762000"/>
            <a:ext cx="8420100" cy="5334000"/>
          </a:xfrm>
          <a:prstGeom prst="rect">
            <a:avLst/>
          </a:prstGeom>
        </p:spPr>
      </p:pic>
    </p:spTree>
    <p:extLst>
      <p:ext uri="{BB962C8B-B14F-4D97-AF65-F5344CB8AC3E}">
        <p14:creationId xmlns:p14="http://schemas.microsoft.com/office/powerpoint/2010/main" val="3961406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209</Words>
  <Application>Microsoft Office PowerPoint</Application>
  <PresentationFormat>Widescreen</PresentationFormat>
  <Paragraphs>31</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DBSCAN Clustering</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Agglomerative Clustering</dc:title>
  <dc:creator> </dc:creator>
  <cp:lastModifiedBy> </cp:lastModifiedBy>
  <cp:revision>24</cp:revision>
  <dcterms:created xsi:type="dcterms:W3CDTF">2026-05-15T01:30:23Z</dcterms:created>
  <dcterms:modified xsi:type="dcterms:W3CDTF">2026-05-17T03:55:16Z</dcterms:modified>
</cp:coreProperties>
</file>