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A3AC-4BD5-467D-A097-2A7B9F140A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2FCB5B-43CD-4A2A-B640-E9FBF62C1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0B5FB-6FCA-41D2-97BC-4156636F0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E1455-98EA-4DDD-B3CD-D8A6D3143F1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CF54E-EA10-431E-9154-0CF008B5E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209C3-C9F4-4B60-B6DD-77C81D49E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A571-A750-412D-AF75-50C45FB68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71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F29B3-7322-41C3-BCF1-147EA9549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0B2B2-7EB6-4976-B112-3F12DE672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E3C3C-FB25-4D2A-BADD-7BB4C5064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E1455-98EA-4DDD-B3CD-D8A6D3143F1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AE595-A051-46DF-BC3F-033BEE99E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534BA-B611-4502-B963-ABA9E8354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A571-A750-412D-AF75-50C45FB68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867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450B6-EE1C-487F-9511-1A6C4EFF5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96F76-A2A4-4C11-B743-90A84CE263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D7643-BC1F-42BE-94D8-0D830FB78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E1455-98EA-4DDD-B3CD-D8A6D3143F1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72F3B-AC82-4F82-A240-2DAF4828B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9A9C4-1D8E-4418-A822-617CE6F1A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A571-A750-412D-AF75-50C45FB68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375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1C9C8-8A6B-4790-9155-0F1490E08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B32B5-1887-4E99-8F37-6DB772F348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AC6959-0C1C-44DE-BCCE-1A3572073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41F153-95A7-45F8-AD5C-D4E9DE378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E1455-98EA-4DDD-B3CD-D8A6D3143F1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25EFA3-3045-4C23-9A00-DA219F6EC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4FB104-0DB6-40C2-8467-DF881CB0F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A571-A750-412D-AF75-50C45FB68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05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2B8A0-A068-4421-BAFE-063283A43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DD5A7-75BD-45C0-A124-9DCD3F2B6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6BA4D8-AC19-456B-AF07-498C57306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05E31C-7985-4E2F-B765-56B33D9C9A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5F100B-71E2-454F-AA56-936742652A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1F7FD0-EFF9-43A3-9FC3-6448D7FF6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E1455-98EA-4DDD-B3CD-D8A6D3143F1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871AD3-088D-4637-888C-7B3FED2B9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62705A-0F78-4CC9-B064-DD5CF7642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A571-A750-412D-AF75-50C45FB68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862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6A8F6-C798-4EE8-8332-529A4F277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B4D273-1C9F-4A0A-A442-5A2C9E32B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E1455-98EA-4DDD-B3CD-D8A6D3143F1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D0C9E3-FEE8-4A0B-92ED-BFA0594BE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FA6E19-0601-438E-B0C0-C5BBBB2E1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A571-A750-412D-AF75-50C45FB68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807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F4EA76-2958-4A1D-9A3F-1A5185D27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E1455-98EA-4DDD-B3CD-D8A6D3143F1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65AEE8-D703-4FCD-85AC-B16E60CA0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494AB-815A-4202-BE30-BB4AEF74D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A571-A750-412D-AF75-50C45FB68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205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4C2ED-C776-4F30-8B55-134AA08A0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D010C-150F-43CC-9B28-F960DFEFD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47A625-2A31-4230-8776-0E80CE107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E261A6-FF04-49D8-9E68-8533AE779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E1455-98EA-4DDD-B3CD-D8A6D3143F1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3AEBBE-D1AB-406E-BEB2-A780EC548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01F68-F5AB-45BB-9A0D-F148E6FFB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A571-A750-412D-AF75-50C45FB68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340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CAC9E-F967-451E-9BBA-C2E017B42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E93E9D-EEE5-457D-BF95-3D2107E707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A7FB1B-8177-4C3F-8876-B7D7003ED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1765F4-5EDD-4B72-B4B1-28F989FED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E1455-98EA-4DDD-B3CD-D8A6D3143F1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7CC38-0952-417F-AF4C-9D1EC66A8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65525-3FF0-41EC-9ACC-F119A0A81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A571-A750-412D-AF75-50C45FB68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731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0DAE6-8986-4B88-BD40-94340A1F9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A5629D-ECFC-42B1-AF19-CA8D85A36F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2E78B-A47D-4C1E-999C-CFCFA5E3D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E1455-98EA-4DDD-B3CD-D8A6D3143F1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3368A-308E-4DB5-9F83-AF8286D6E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D4A09-F8E5-48E8-9945-681B58197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A571-A750-412D-AF75-50C45FB68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082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F97A7-951E-4809-94B8-9D58A27652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773BB-58C2-48E4-809B-F39C291C8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F4C04-29F0-40D1-B3A3-C705EE137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E1455-98EA-4DDD-B3CD-D8A6D3143F1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00CEB-E80A-49A0-AE06-84D0CAE4A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0D5C8-9277-4C23-AF95-478450278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5A571-A750-412D-AF75-50C45FB68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491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0D4CB7-6444-4D96-B550-40C5D8A51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C7B483-0976-4C96-9920-458256661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28706-2B03-4E9B-A482-603105B746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E1455-98EA-4DDD-B3CD-D8A6D3143F18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860A7-440B-4FB0-8D47-4A691A0A4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3E834-184B-4667-953E-A7A1EE7035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5A571-A750-412D-AF75-50C45FB68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908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76C34-6966-46BB-9F7F-9736E3ABF1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2369"/>
            <a:ext cx="9144000" cy="678302"/>
          </a:xfrm>
        </p:spPr>
        <p:txBody>
          <a:bodyPr>
            <a:normAutofit fontScale="90000"/>
          </a:bodyPr>
          <a:lstStyle/>
          <a:p>
            <a:r>
              <a:rPr lang="en-US" dirty="0"/>
              <a:t>Agglomerative Clustering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0B8555-AFB0-4211-BB74-2B39C9569B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50497"/>
            <a:ext cx="9144000" cy="4248445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is agglomerative clustering:</a:t>
            </a:r>
          </a:p>
          <a:p>
            <a:pPr algn="l"/>
            <a:r>
              <a:rPr lang="en-US" sz="1800" dirty="0"/>
              <a:t>Gaussian Mixture Model (GMM) is a probabilistic clustering technique that models data as a combination of multiple Gaussian distributions, allowing more flexible grouping of data points.</a:t>
            </a:r>
          </a:p>
          <a:p>
            <a:pPr algn="l"/>
            <a:r>
              <a:rPr lang="en-US" b="1" dirty="0"/>
              <a:t>Analogy:</a:t>
            </a:r>
            <a:br>
              <a:rPr lang="en-US" dirty="0"/>
            </a:br>
            <a:r>
              <a:rPr lang="en-US" sz="1800" dirty="0"/>
              <a:t>Imagine you’re at a </a:t>
            </a:r>
            <a:r>
              <a:rPr lang="en-US" sz="1800" b="1" dirty="0"/>
              <a:t>fruit market</a:t>
            </a:r>
            <a:r>
              <a:rPr lang="en-US" sz="1800" dirty="0"/>
              <a:t>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Some baskets have apples, some oranges, some bananas.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But the fruits are mixed together on the table.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Instead of hard‑splitting them (like K‑Means), you say: “This fruit is </a:t>
            </a:r>
            <a:r>
              <a:rPr lang="en-US" sz="1800" b="1" dirty="0"/>
              <a:t>70% apple‑like</a:t>
            </a:r>
            <a:r>
              <a:rPr lang="en-US" sz="1800" dirty="0"/>
              <a:t>, </a:t>
            </a:r>
            <a:r>
              <a:rPr lang="en-US" sz="1800" b="1" dirty="0"/>
              <a:t>30% orange‑like</a:t>
            </a:r>
            <a:r>
              <a:rPr lang="en-US" sz="1800" dirty="0"/>
              <a:t>.” That’s what GMM does — it gives </a:t>
            </a:r>
            <a:r>
              <a:rPr lang="en-US" sz="1800" b="1" dirty="0"/>
              <a:t>probabilistic cluster membership</a:t>
            </a:r>
            <a:r>
              <a:rPr lang="en-US" sz="1800" dirty="0"/>
              <a:t> instead of rigid assignments.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4979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0F88C-C721-45CB-B323-F8F220742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5422"/>
            <a:ext cx="10515600" cy="58815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When to Use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900" dirty="0"/>
              <a:t>When clusters may overlap.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9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900" dirty="0"/>
              <a:t>When you want probabilistic membership instead of hard labels.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9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900" dirty="0"/>
              <a:t>When data is assumed to follow a normal distribution within clusters.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9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900" dirty="0"/>
              <a:t>Useful in speech recognition, anomaly detection, image segmentation.</a:t>
            </a:r>
          </a:p>
          <a:p>
            <a:pPr marL="0" indent="0">
              <a:buNone/>
            </a:pPr>
            <a:r>
              <a:rPr lang="en-US" b="1" dirty="0"/>
              <a:t>Step‑by‑Step Process</a:t>
            </a:r>
          </a:p>
          <a:p>
            <a:pPr>
              <a:spcBef>
                <a:spcPts val="0"/>
              </a:spcBef>
            </a:pPr>
            <a:r>
              <a:rPr lang="en-US" sz="1900" dirty="0"/>
              <a:t>Choose number of components (clusters).</a:t>
            </a:r>
          </a:p>
          <a:p>
            <a:pPr>
              <a:spcBef>
                <a:spcPts val="0"/>
              </a:spcBef>
            </a:pPr>
            <a:endParaRPr lang="en-US" sz="1900" dirty="0"/>
          </a:p>
          <a:p>
            <a:pPr>
              <a:spcBef>
                <a:spcPts val="0"/>
              </a:spcBef>
            </a:pPr>
            <a:r>
              <a:rPr lang="en-US" sz="1900" dirty="0"/>
              <a:t>Initialize Gaussian parameters (means, covariances, weights).</a:t>
            </a:r>
          </a:p>
          <a:p>
            <a:pPr>
              <a:spcBef>
                <a:spcPts val="0"/>
              </a:spcBef>
            </a:pPr>
            <a:endParaRPr lang="en-US" sz="1900" dirty="0"/>
          </a:p>
          <a:p>
            <a:pPr>
              <a:spcBef>
                <a:spcPts val="0"/>
              </a:spcBef>
            </a:pPr>
            <a:r>
              <a:rPr lang="en-US" sz="1900" dirty="0"/>
              <a:t>Expectation step: Compute probability each point belongs to each Gaussian.</a:t>
            </a:r>
          </a:p>
          <a:p>
            <a:pPr>
              <a:spcBef>
                <a:spcPts val="0"/>
              </a:spcBef>
            </a:pPr>
            <a:endParaRPr lang="en-US" sz="1900" dirty="0"/>
          </a:p>
          <a:p>
            <a:pPr>
              <a:spcBef>
                <a:spcPts val="0"/>
              </a:spcBef>
            </a:pPr>
            <a:r>
              <a:rPr lang="en-US" sz="1900" dirty="0"/>
              <a:t>Maximization step: Update parameters to maximize likelihood.</a:t>
            </a:r>
          </a:p>
          <a:p>
            <a:pPr>
              <a:spcBef>
                <a:spcPts val="0"/>
              </a:spcBef>
            </a:pPr>
            <a:endParaRPr lang="en-US" sz="1900" dirty="0"/>
          </a:p>
          <a:p>
            <a:pPr>
              <a:spcBef>
                <a:spcPts val="0"/>
              </a:spcBef>
            </a:pPr>
            <a:r>
              <a:rPr lang="en-US" sz="1900" dirty="0"/>
              <a:t>Iterate until convergence.</a:t>
            </a:r>
          </a:p>
          <a:p>
            <a:pPr>
              <a:spcBef>
                <a:spcPts val="0"/>
              </a:spcBef>
            </a:pPr>
            <a:endParaRPr lang="en-US" sz="1900" dirty="0"/>
          </a:p>
          <a:p>
            <a:pPr>
              <a:spcBef>
                <a:spcPts val="0"/>
              </a:spcBef>
            </a:pPr>
            <a:r>
              <a:rPr lang="en-US" sz="1900" dirty="0"/>
              <a:t>Assign clusters based on highest probability (or keep probabilities for soft clustering).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2581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54544-87B0-4349-9D0A-9F9624912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015"/>
            <a:ext cx="10515600" cy="596594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AIC/BIC diagram to decide </a:t>
            </a:r>
            <a:r>
              <a:rPr lang="en-US" dirty="0" err="1"/>
              <a:t>n_components</a:t>
            </a:r>
            <a:r>
              <a:rPr lang="en-US" dirty="0"/>
              <a:t> (natural groupings)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D7A453-7F07-4192-A2AF-880BFBD01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637" y="1109662"/>
            <a:ext cx="6562725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915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1C04E1-AAB6-4374-BBAE-0E9F5E83A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50" y="1314450"/>
            <a:ext cx="68199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406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155</Words>
  <Application>Microsoft Office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Agglomerative Clustering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Agglomerative Clustering</dc:title>
  <dc:creator> </dc:creator>
  <cp:lastModifiedBy> </cp:lastModifiedBy>
  <cp:revision>11</cp:revision>
  <dcterms:created xsi:type="dcterms:W3CDTF">2026-05-15T01:30:23Z</dcterms:created>
  <dcterms:modified xsi:type="dcterms:W3CDTF">2026-05-16T02:44:53Z</dcterms:modified>
</cp:coreProperties>
</file>